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Expectancy 2023 (years)</c:v>
                </c:pt>
              </c:strCache>
            </c:strRef>
          </c:tx>
          <c:spPr>
            <a:solidFill>
              <a:srgbClr val="2D5A4A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Nigeria</c:v>
                </c:pt>
                <c:pt idx="1">
                  <c:v>Mali</c:v>
                </c:pt>
                <c:pt idx="2">
                  <c:v>Benin</c:v>
                </c:pt>
                <c:pt idx="3">
                  <c:v>Burkina Faso</c:v>
                </c:pt>
                <c:pt idx="4">
                  <c:v>Niger</c:v>
                </c:pt>
                <c:pt idx="5">
                  <c:v>Ivory Coast</c:v>
                </c:pt>
                <c:pt idx="6">
                  <c:v>Togo</c:v>
                </c:pt>
                <c:pt idx="7">
                  <c:v>Cameroon</c:v>
                </c:pt>
                <c:pt idx="8">
                  <c:v>Kenya</c:v>
                </c:pt>
                <c:pt idx="9">
                  <c:v>Ghana</c:v>
                </c:pt>
                <c:pt idx="10">
                  <c:v>South Africa</c:v>
                </c:pt>
                <c:pt idx="11">
                  <c:v>Tanzania</c:v>
                </c:pt>
                <c:pt idx="12">
                  <c:v>Ethiopia</c:v>
                </c:pt>
                <c:pt idx="13">
                  <c:v>Rwanda</c:v>
                </c:pt>
                <c:pt idx="14">
                  <c:v>Uganda</c:v>
                </c:pt>
                <c:pt idx="15">
                  <c:v>Senegal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54.46</c:v>
                </c:pt>
                <c:pt idx="1">
                  <c:v>60.44</c:v>
                </c:pt>
                <c:pt idx="2">
                  <c:v>60.77</c:v>
                </c:pt>
                <c:pt idx="3">
                  <c:v>61.09</c:v>
                </c:pt>
                <c:pt idx="4">
                  <c:v>61.18</c:v>
                </c:pt>
                <c:pt idx="5">
                  <c:v>61.94</c:v>
                </c:pt>
                <c:pt idx="6">
                  <c:v>62.74</c:v>
                </c:pt>
                <c:pt idx="7">
                  <c:v>63.7</c:v>
                </c:pt>
                <c:pt idx="8">
                  <c:v>63.65</c:v>
                </c:pt>
                <c:pt idx="9">
                  <c:v>65.5</c:v>
                </c:pt>
                <c:pt idx="10">
                  <c:v>66.14</c:v>
                </c:pt>
                <c:pt idx="11">
                  <c:v>67</c:v>
                </c:pt>
                <c:pt idx="12">
                  <c:v>67.319999999999993</c:v>
                </c:pt>
                <c:pt idx="13">
                  <c:v>67.790000000000006</c:v>
                </c:pt>
                <c:pt idx="14">
                  <c:v>68.25</c:v>
                </c:pt>
                <c:pt idx="15">
                  <c:v>68.680000000000007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03-4DFF-A514-ED5F6908C8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"/>
          <c:min val="5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Years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846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565" y="1053554"/>
            <a:ext cx="7416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EXPECTANCY IN AFRICA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00500" y="1853654"/>
            <a:ext cx="1143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41119" y="2329904"/>
            <a:ext cx="42616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and Progress Analysis (2015-2023)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03707" y="3183285"/>
            <a:ext cx="31364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with Python — December 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84202" y="3929955"/>
            <a:ext cx="27755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Bank — World Development Indicators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D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742950"/>
            <a:ext cx="762000" cy="38100"/>
          </a:xfrm>
          <a:prstGeom prst="rect">
            <a:avLst/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26977"/>
            <a:ext cx="7620000" cy="1784747"/>
          </a:xfrm>
          <a:prstGeom prst="roundRect">
            <a:avLst>
              <a:gd name="adj" fmla="val 4270"/>
            </a:avLst>
          </a:prstGeom>
          <a:solidFill>
            <a:srgbClr val="2D5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71575" y="1907977"/>
            <a:ext cx="68008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125"/>
              </a:spcAft>
              <a:buNone/>
            </a:pPr>
            <a:r>
              <a:rPr lang="en-US" sz="105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OBJECTIVE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71575" y="2237482"/>
            <a:ext cx="680085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has life expectancy evolved in African countries between 2015 and 2023, and which countries made the most progress?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587271" y="3845123"/>
            <a:ext cx="116449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587271" y="4363194"/>
            <a:ext cx="1164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analyzed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45148" y="3911650"/>
            <a:ext cx="9525" cy="571500"/>
          </a:xfrm>
          <a:prstGeom prst="rect">
            <a:avLst/>
          </a:prstGeom>
          <a:solidFill>
            <a:srgbClr val="D4C4B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51663" y="3845123"/>
            <a:ext cx="79667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fr-BF" sz="2700" b="1" dirty="0">
                <a:solidFill>
                  <a:srgbClr val="C45C26"/>
                </a:solidFill>
                <a:latin typeface="Arial" pitchFamily="34" charset="0"/>
                <a:cs typeface="Arial" pitchFamily="34" charset="-120"/>
              </a:rPr>
              <a:t>8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351663" y="4363194"/>
            <a:ext cx="7966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45323" y="3911650"/>
            <a:ext cx="9525" cy="571500"/>
          </a:xfrm>
          <a:prstGeom prst="rect">
            <a:avLst/>
          </a:prstGeom>
          <a:solidFill>
            <a:srgbClr val="D4C4B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1792" y="3845123"/>
            <a:ext cx="80137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751792" y="4363194"/>
            <a:ext cx="8013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D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742950"/>
            <a:ext cx="762000" cy="38100"/>
          </a:xfrm>
          <a:prstGeom prst="rect">
            <a:avLst/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96591"/>
            <a:ext cx="2826990" cy="1041797"/>
          </a:xfrm>
          <a:prstGeom prst="roundRect">
            <a:avLst>
              <a:gd name="adj" fmla="val 7314"/>
            </a:avLst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487091"/>
            <a:ext cx="24949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723281"/>
            <a:ext cx="24949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1974652"/>
            <a:ext cx="24949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Development Indicators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643188"/>
            <a:ext cx="2826990" cy="1001911"/>
          </a:xfrm>
          <a:prstGeom prst="roundRect">
            <a:avLst>
              <a:gd name="adj" fmla="val 7605"/>
            </a:avLst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2833688"/>
            <a:ext cx="24949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500" y="3069878"/>
            <a:ext cx="24949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SP.DYN.LE00.IN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294608"/>
            <a:ext cx="24949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expectancy at birth (years)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949898"/>
            <a:ext cx="2826990" cy="830461"/>
          </a:xfrm>
          <a:prstGeom prst="roundRect">
            <a:avLst>
              <a:gd name="adj" fmla="val 9176"/>
            </a:avLst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4140398"/>
            <a:ext cx="24949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" y="4376589"/>
            <a:ext cx="24949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— 2023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12790" y="1662410"/>
            <a:ext cx="53552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included (Sub-Saharan Africa)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12790" y="2207121"/>
            <a:ext cx="53552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Africa: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Benin, Burkina Faso, Ivory Coast, Ghana, Mali, Niger, Nigeria, Senegal, Togo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12790" y="2900363"/>
            <a:ext cx="53552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Africa: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Ethiopia, Kenya, Rwanda, Tanzania, Uganda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12790" y="3380333"/>
            <a:ext cx="53552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05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Other: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Cameroon (Central), South Africa (Southern)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12790" y="3936504"/>
            <a:ext cx="5250210" cy="478036"/>
          </a:xfrm>
          <a:prstGeom prst="roundRect">
            <a:avLst>
              <a:gd name="adj" fmla="val 15940"/>
            </a:avLst>
          </a:prstGeom>
          <a:solidFill>
            <a:srgbClr val="2D5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65190" y="4088904"/>
            <a:ext cx="50443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</a:t>
            </a: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data.worldbank.org/indicator/SP.DYN.LE00.IN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D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742950"/>
            <a:ext cx="762000" cy="38100"/>
          </a:xfrm>
          <a:prstGeom prst="rect">
            <a:avLst/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8675" y="121920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0727" y="134496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6223" y="2095500"/>
            <a:ext cx="6564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6332" y="2537371"/>
            <a:ext cx="149618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missing values and duplicates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152650" y="1219200"/>
            <a:ext cx="233172" cy="491430"/>
          </a:xfrm>
          <a:prstGeom prst="rect">
            <a:avLst/>
          </a:prstGeom>
          <a:noFill/>
          <a:ln/>
        </p:spPr>
        <p:txBody>
          <a:bodyPr wrap="square" lIns="0" tIns="17145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D4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33725" y="121920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55777" y="134496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91843" y="2095500"/>
            <a:ext cx="8551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1382" y="2537371"/>
            <a:ext cx="149618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stats and visualizations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457700" y="1219200"/>
            <a:ext cx="233172" cy="491430"/>
          </a:xfrm>
          <a:prstGeom prst="rect">
            <a:avLst/>
          </a:prstGeom>
          <a:noFill/>
          <a:ln/>
        </p:spPr>
        <p:txBody>
          <a:bodyPr wrap="square" lIns="0" tIns="17145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D4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38775" y="121920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60827" y="134496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66682" y="2095500"/>
            <a:ext cx="9156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76432" y="2537371"/>
            <a:ext cx="149618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variable relationships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762750" y="1219200"/>
            <a:ext cx="233172" cy="491430"/>
          </a:xfrm>
          <a:prstGeom prst="rect">
            <a:avLst/>
          </a:prstGeom>
          <a:noFill/>
          <a:ln/>
        </p:spPr>
        <p:txBody>
          <a:bodyPr wrap="square" lIns="0" tIns="17145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D4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43825" y="121920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2D5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65877" y="134496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19247" y="2095500"/>
            <a:ext cx="8206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Metric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81482" y="2537371"/>
            <a:ext cx="149618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composite health index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90500" y="4474964"/>
            <a:ext cx="8763000" cy="478036"/>
          </a:xfrm>
          <a:prstGeom prst="roundRect">
            <a:avLst>
              <a:gd name="adj" fmla="val 15940"/>
            </a:avLst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1500" y="4627364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used:</a:t>
            </a: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Python, NumPy, Pandas, Matplotlib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D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742950"/>
            <a:ext cx="762000" cy="38100"/>
          </a:xfrm>
          <a:prstGeom prst="rect">
            <a:avLst/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47056"/>
            <a:ext cx="2590800" cy="1546622"/>
          </a:xfrm>
          <a:prstGeom prst="roundRect">
            <a:avLst>
              <a:gd name="adj" fmla="val 4927"/>
            </a:avLst>
          </a:prstGeom>
          <a:solidFill>
            <a:srgbClr val="2D5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8264" y="1675656"/>
            <a:ext cx="217627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88264" y="2391817"/>
            <a:ext cx="21762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life expectancy 2023 (years)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76600" y="1540371"/>
            <a:ext cx="2590800" cy="1359991"/>
          </a:xfrm>
          <a:prstGeom prst="roundRect">
            <a:avLst>
              <a:gd name="adj" fmla="val 5603"/>
            </a:avLst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83864" y="1768971"/>
            <a:ext cx="217627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83864" y="2485132"/>
            <a:ext cx="21762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2015-2023 (years)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72200" y="1540371"/>
            <a:ext cx="2590800" cy="1359991"/>
          </a:xfrm>
          <a:prstGeom prst="roundRect">
            <a:avLst>
              <a:gd name="adj" fmla="val 5603"/>
            </a:avLst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79464" y="1768971"/>
            <a:ext cx="217627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79464" y="2485132"/>
            <a:ext cx="21762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Max-min gap (years)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000" y="3431828"/>
            <a:ext cx="4038600" cy="1198066"/>
          </a:xfrm>
          <a:prstGeom prst="roundRect">
            <a:avLst>
              <a:gd name="adj" fmla="val 6360"/>
            </a:avLst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3622328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Highest life expectancy (2023)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3923258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Senegal — 68.7 years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1500" y="4266158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Followed by Uganda (68.3) and Rwanda (67.8)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24400" y="3431828"/>
            <a:ext cx="4038600" cy="1198066"/>
          </a:xfrm>
          <a:prstGeom prst="roundRect">
            <a:avLst>
              <a:gd name="adj" fmla="val 6360"/>
            </a:avLst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14900" y="3622328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Lowest life expectancy (2023)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14900" y="3923258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— 54.5 years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14900" y="4266158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years behind the top performers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2463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D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Expectancy by Country (2023)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77181"/>
            <a:ext cx="762000" cy="38100"/>
          </a:xfrm>
          <a:prstGeom prst="rect">
            <a:avLst/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710623677"/>
              </p:ext>
            </p:extLst>
          </p:nvPr>
        </p:nvGraphicFramePr>
        <p:xfrm>
          <a:off x="381000" y="1123950"/>
          <a:ext cx="8382000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D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Improved Countries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90525" y="959035"/>
            <a:ext cx="762000" cy="38100"/>
          </a:xfrm>
          <a:prstGeom prst="rect">
            <a:avLst/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93490"/>
            <a:ext cx="41193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Improvement (2015-2023)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011561"/>
            <a:ext cx="40386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4C4B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525" y="2021086"/>
            <a:ext cx="4019550" cy="542925"/>
          </a:xfrm>
          <a:prstGeom prst="rect">
            <a:avLst/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0525" y="2559248"/>
            <a:ext cx="4019550" cy="0"/>
          </a:xfrm>
          <a:prstGeom prst="line">
            <a:avLst/>
          </a:prstGeom>
          <a:noFill/>
          <a:ln w="9525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1025" y="2154436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9175" y="2154436"/>
            <a:ext cx="2163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2525" y="2154436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+9.4 years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0525" y="3064073"/>
            <a:ext cx="4019550" cy="0"/>
          </a:xfrm>
          <a:prstGeom prst="line">
            <a:avLst/>
          </a:prstGeom>
          <a:noFill/>
          <a:ln w="9525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1025" y="2678311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19175" y="2678311"/>
            <a:ext cx="2163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2525" y="2678311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+6.9 years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0525" y="3568898"/>
            <a:ext cx="4019550" cy="0"/>
          </a:xfrm>
          <a:prstGeom prst="line">
            <a:avLst/>
          </a:prstGeom>
          <a:noFill/>
          <a:ln w="9525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025" y="3183136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19175" y="3183136"/>
            <a:ext cx="2163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2525" y="3183136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+5.6 years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90525" y="4073723"/>
            <a:ext cx="4019550" cy="0"/>
          </a:xfrm>
          <a:prstGeom prst="line">
            <a:avLst/>
          </a:prstGeom>
          <a:noFill/>
          <a:ln w="9525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025" y="3687961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9175" y="3687961"/>
            <a:ext cx="2163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Ethiopia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2525" y="3687961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+5.3 years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1025" y="4192786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9175" y="4192786"/>
            <a:ext cx="2163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92525" y="4192786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+4.4 years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24400" y="1709738"/>
            <a:ext cx="41193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24400" y="2227808"/>
            <a:ext cx="4038600" cy="817215"/>
          </a:xfrm>
          <a:prstGeom prst="roundRect">
            <a:avLst>
              <a:gd name="adj" fmla="val 9324"/>
            </a:avLst>
          </a:prstGeom>
          <a:solidFill>
            <a:srgbClr val="2D5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4900" y="2418308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AFRICA LEADS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4900" y="2654498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the top 5 most improved countries are in East Africa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4400" y="3349823"/>
            <a:ext cx="4038600" cy="1017240"/>
          </a:xfrm>
          <a:prstGeom prst="roundRect">
            <a:avLst>
              <a:gd name="adj" fmla="val 7491"/>
            </a:avLst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14900" y="3540323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IMPROVEMENT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4900" y="3776514"/>
            <a:ext cx="37307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16 countries showed positive improvement. Average: +3.2 years over 8 years.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D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Metric: Progress Index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66764"/>
            <a:ext cx="762000" cy="38100"/>
          </a:xfrm>
          <a:prstGeom prst="rect">
            <a:avLst/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92635"/>
            <a:ext cx="3230910" cy="1554361"/>
          </a:xfrm>
          <a:prstGeom prst="roundRect">
            <a:avLst>
              <a:gd name="adj" fmla="val 4902"/>
            </a:avLst>
          </a:prstGeom>
          <a:solidFill>
            <a:srgbClr val="2D5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021235"/>
            <a:ext cx="28291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2295525"/>
            <a:ext cx="282918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Progress_Index =</a:t>
            </a:r>
            <a:endParaRPr lang="en-US" sz="120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50% x Level_Score +</a:t>
            </a:r>
            <a:endParaRPr lang="en-US" sz="120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50% x Improvement_Score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3689896"/>
            <a:ext cx="3295528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index combines current performance (2023 level) with progress made (2015-2023 improvement) to identify overall best performers.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916710" y="1261170"/>
            <a:ext cx="49432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by Progress Index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16710" y="1779240"/>
            <a:ext cx="484629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4C4B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26235" y="1788765"/>
            <a:ext cx="4827240" cy="542925"/>
          </a:xfrm>
          <a:prstGeom prst="rect">
            <a:avLst/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26235" y="2326928"/>
            <a:ext cx="4827240" cy="0"/>
          </a:xfrm>
          <a:prstGeom prst="line">
            <a:avLst/>
          </a:prstGeom>
          <a:noFill/>
          <a:ln w="9525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6735" y="1922115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4885" y="1922115"/>
            <a:ext cx="355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92095" y="1922115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26235" y="2831753"/>
            <a:ext cx="4827240" cy="0"/>
          </a:xfrm>
          <a:prstGeom prst="line">
            <a:avLst/>
          </a:prstGeom>
          <a:noFill/>
          <a:ln w="9525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6735" y="2445990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54885" y="2445990"/>
            <a:ext cx="355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Senegal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92095" y="244599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926235" y="3336578"/>
            <a:ext cx="4827240" cy="0"/>
          </a:xfrm>
          <a:prstGeom prst="line">
            <a:avLst/>
          </a:prstGeom>
          <a:noFill/>
          <a:ln w="9525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6735" y="2950815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54885" y="2950815"/>
            <a:ext cx="355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Rwanda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2095" y="2950815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26235" y="3841403"/>
            <a:ext cx="4827240" cy="0"/>
          </a:xfrm>
          <a:prstGeom prst="line">
            <a:avLst/>
          </a:prstGeom>
          <a:noFill/>
          <a:ln w="9525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6735" y="3455640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54885" y="3455640"/>
            <a:ext cx="355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Ethiopia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92095" y="345564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16735" y="3960465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54885" y="3960465"/>
            <a:ext cx="355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Tanzania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92095" y="3960465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916710" y="4655790"/>
            <a:ext cx="49432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Lowest: Nigeria (3.0), Ivory Coast (23.1)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876300"/>
            <a:ext cx="762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524149"/>
            <a:ext cx="3943350" cy="1234380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1524149"/>
            <a:ext cx="0" cy="1234380"/>
          </a:xfrm>
          <a:prstGeom prst="line">
            <a:avLst/>
          </a:prstGeom>
          <a:noFill/>
          <a:ln w="381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752749"/>
            <a:ext cx="35170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FINDING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2950" y="2015579"/>
            <a:ext cx="351701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expectancy increased by +3.2 years on average across Africa between 2015-2023.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524149"/>
            <a:ext cx="3943350" cy="1234380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43450" y="1524149"/>
            <a:ext cx="0" cy="1234380"/>
          </a:xfrm>
          <a:prstGeom prst="line">
            <a:avLst/>
          </a:prstGeom>
          <a:noFill/>
          <a:ln w="38100">
            <a:solidFill>
              <a:srgbClr val="C45C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1100" y="1752749"/>
            <a:ext cx="35170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LEADER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91100" y="2015579"/>
            <a:ext cx="351701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Africa outperforms with Uganda showing +9.4 years improvement.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6250" y="3196679"/>
            <a:ext cx="8191500" cy="1489472"/>
          </a:xfrm>
          <a:prstGeom prst="roundRect">
            <a:avLst>
              <a:gd name="adj" fmla="val 5116"/>
            </a:avLst>
          </a:prstGeom>
          <a:solidFill>
            <a:srgbClr val="D4A853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850" y="3425279"/>
            <a:ext cx="78889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to our research question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04850" y="3726210"/>
            <a:ext cx="7888986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expectancy in Africa improved significantly from 60.1 to 63.3 years.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Uganda, Rwanda, and Kenya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showed the most progress. However,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remains a major concern at only 54.5 years, highlighting persistent regional disparities.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D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742950"/>
            <a:ext cx="762000" cy="38100"/>
          </a:xfrm>
          <a:prstGeom prst="rect">
            <a:avLst/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84152"/>
            <a:ext cx="4038600" cy="760958"/>
          </a:xfrm>
          <a:prstGeom prst="roundRect">
            <a:avLst>
              <a:gd name="adj" fmla="val 10014"/>
            </a:avLst>
          </a:prstGeom>
          <a:solidFill>
            <a:srgbClr val="FFFFFF"/>
          </a:solidFill>
          <a:ln w="9525">
            <a:solidFill>
              <a:srgbClr val="D4C4B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925" y="194607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6418" y="2016621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28725" y="1946077"/>
            <a:ext cx="24991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education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28725" y="2197447"/>
            <a:ext cx="249916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enrollment rates, especially for girls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2697510"/>
            <a:ext cx="4038600" cy="760958"/>
          </a:xfrm>
          <a:prstGeom prst="roundRect">
            <a:avLst>
              <a:gd name="adj" fmla="val 10014"/>
            </a:avLst>
          </a:prstGeom>
          <a:solidFill>
            <a:srgbClr val="FFFFFF"/>
          </a:solidFill>
          <a:ln w="9525">
            <a:solidFill>
              <a:srgbClr val="D4C4B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925" y="285943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45C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6418" y="2929979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28725" y="2859435"/>
            <a:ext cx="22958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vaccination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8725" y="3110805"/>
            <a:ext cx="229589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vaccination coverage programs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24400" y="1784152"/>
            <a:ext cx="4038600" cy="760958"/>
          </a:xfrm>
          <a:prstGeom prst="roundRect">
            <a:avLst>
              <a:gd name="adj" fmla="val 10014"/>
            </a:avLst>
          </a:prstGeom>
          <a:solidFill>
            <a:srgbClr val="FFFFFF"/>
          </a:solidFill>
          <a:ln w="9525">
            <a:solidFill>
              <a:srgbClr val="D4C4B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86325" y="194607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69818" y="2016621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🎗️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572125" y="1946077"/>
            <a:ext cx="24854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Fight HIV/AIDS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2125" y="2197447"/>
            <a:ext cx="248549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prevention and treatment access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724400" y="2697510"/>
            <a:ext cx="4038600" cy="760958"/>
          </a:xfrm>
          <a:prstGeom prst="roundRect">
            <a:avLst>
              <a:gd name="adj" fmla="val 10014"/>
            </a:avLst>
          </a:prstGeom>
          <a:solidFill>
            <a:srgbClr val="FFFFFF"/>
          </a:solidFill>
          <a:ln w="9525">
            <a:solidFill>
              <a:srgbClr val="D4C4B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86325" y="285943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69818" y="2929979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572125" y="2859435"/>
            <a:ext cx="23165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healthcare access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2125" y="3110805"/>
            <a:ext cx="23165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primary healthcare infrastructure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90500" y="4461570"/>
            <a:ext cx="8763000" cy="491430"/>
          </a:xfrm>
          <a:prstGeom prst="roundRect">
            <a:avLst>
              <a:gd name="adj" fmla="val 15506"/>
            </a:avLst>
          </a:prstGeom>
          <a:solidFill>
            <a:srgbClr val="2D5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1490" y="461397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🙏 Thank you for your attention — Questions?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544</Words>
  <Application>Microsoft Office PowerPoint</Application>
  <PresentationFormat>Affichage à l'écran (16:9)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Georgia</vt:lpstr>
      <vt:lpstr>monospace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Expectancy Analysis in Africa</dc:title>
  <dc:subject>PptxGenJS Presentation</dc:subject>
  <dc:creator>Data Analysis Group</dc:creator>
  <cp:lastModifiedBy>Aslane Ouedraogo</cp:lastModifiedBy>
  <cp:revision>3</cp:revision>
  <dcterms:created xsi:type="dcterms:W3CDTF">2025-12-18T13:08:12Z</dcterms:created>
  <dcterms:modified xsi:type="dcterms:W3CDTF">2025-12-19T10:46:05Z</dcterms:modified>
</cp:coreProperties>
</file>